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3218688"/>
            <a:ext cx="9445752" cy="45720"/>
          </a:xfrm>
          <a:prstGeom prst="rect">
            <a:avLst/>
          </a:prstGeom>
          <a:solidFill>
            <a:srgbClr val="6C8EF7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2E4F0"/>
                </a:solidFill>
              </a:rPr>
              <a:t>LMS-Aware AI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889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6C8EF7"/>
                </a:solidFill>
              </a:rPr>
              <a:t>for Personalized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88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7A7D90"/>
                </a:solidFill>
              </a:rPr>
              <a:t>HUFS  ·  ISD Team  ·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114800"/>
            <a:ext cx="1755648" cy="310896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Chrome Extension MV3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39" y="4114800"/>
            <a:ext cx="1755648" cy="310896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FastAPI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4114800"/>
            <a:ext cx="1755648" cy="310896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SQLite FTS5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4114800"/>
            <a:ext cx="1755648" cy="310896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Groq llama-3.3-70b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4114800"/>
            <a:ext cx="1755648" cy="310896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RAG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4114800"/>
            <a:ext cx="1755648" cy="310896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SSE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7A7D90"/>
                </a:solidFill>
              </a:rPr>
              <a:t>5-min presentation  ·  Live Demo  · 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46304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2E4F0"/>
                </a:solidFill>
              </a:rPr>
              <a:t>LMS AI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82880"/>
            <a:ext cx="2011680" cy="292608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7D90"/>
                </a:solidFill>
              </a:rPr>
              <a:t>SQLite · 9 tables · FTS5 virtual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0116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A7D90"/>
                </a:solidFill>
              </a:rPr>
              <a:t>ISD Team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31520"/>
            <a:ext cx="11823192" cy="5989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C8EF7"/>
                </a:solidFill>
              </a:rPr>
              <a:t>Data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874519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44752"/>
            <a:ext cx="1874519" cy="987551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user_id PK
lms_id
enc_session_cookie
scraping_interval
last_sync_at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06040"/>
            <a:ext cx="1874519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1874519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course_id PK
lms_url_id UK
course_code
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49039"/>
            <a:ext cx="1874519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Enrollment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23359"/>
            <a:ext cx="1874519" cy="640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enroll_id PK
user_id FK
course_id FK
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170432"/>
            <a:ext cx="1920240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Material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444752"/>
            <a:ext cx="192024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material_id PK
course_id FK
title · file_type
checksum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331720"/>
            <a:ext cx="1920240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Doc_Chunk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606039"/>
            <a:ext cx="192024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chunk_id PK
material_id FK
content · page_ref
chunk_index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493008"/>
            <a:ext cx="1920240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Learning_Activity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767328"/>
            <a:ext cx="192024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activity_id PK
user_id FK
course_id FK
title · status · due_date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170432"/>
            <a:ext cx="1920240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Personal_Log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444752"/>
            <a:ext cx="192024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log_id PK
user_id FK
course_id FK
material_id FK
stay_time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514600"/>
            <a:ext cx="1920240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Chat_Session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788920"/>
            <a:ext cx="1920240" cy="64008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session_id PK
user_id FK
course_id FK
created_at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630168"/>
            <a:ext cx="1920240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C8EF7"/>
                </a:solidFill>
              </a:rPr>
              <a:t>Chat_Log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904488"/>
            <a:ext cx="1920240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>
                <a:solidFill>
                  <a:srgbClr val="7A7D90"/>
                </a:solidFill>
              </a:rPr>
              <a:t>chat_id PK
session_id FK
role · content
keywords · sources
feedback_score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331720"/>
            <a:ext cx="2194560" cy="274320"/>
          </a:xfrm>
          <a:prstGeom prst="rect">
            <a:avLst/>
          </a:prstGeom>
          <a:solidFill>
            <a:srgbClr val="0F201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4ADE80"/>
                </a:solidFill>
              </a:rPr>
              <a:t>Doc_Chunk_fts  (FTS5 index)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834640"/>
            <a:ext cx="2194560" cy="274320"/>
          </a:xfrm>
          <a:prstGeom prst="rect">
            <a:avLst/>
          </a:prstGeom>
          <a:solidFill>
            <a:srgbClr val="0F201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4ADE80"/>
                </a:solidFill>
              </a:rPr>
              <a:t>Chat_Log_fts  (FTS5 index)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17043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C8EF7"/>
                </a:solidFill>
              </a:rPr>
              <a:t>Key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48132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A7D90"/>
                </a:solidFill>
              </a:rPr>
              <a:t>User ──&lt; Enrollment &gt;── Course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7830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A7D90"/>
                </a:solidFill>
              </a:rPr>
              <a:t>Course ──&lt; Material ──&lt; Doc_Chunk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08483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A7D90"/>
                </a:solidFill>
              </a:rPr>
              <a:t>User  ──&lt; Learning_Activity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38658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A7D90"/>
                </a:solidFill>
              </a:rPr>
              <a:t>User  ──&lt; Personal_Log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68833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A7D90"/>
                </a:solidFill>
              </a:rPr>
              <a:t>User  ──&lt; Chat_Session ──&lt; Chat_Log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99008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7A7D90"/>
                </a:solidFill>
              </a:rPr>
              <a:t>Material ──&lt; Personal_Log (viewed)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46304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2E4F0"/>
                </a:solidFill>
              </a:rPr>
              <a:t>LMS AI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82880"/>
            <a:ext cx="2011680" cy="292608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7D90"/>
                </a:solidFill>
              </a:rPr>
              <a:t>6-layer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0116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A7D90"/>
                </a:solidFill>
              </a:rPr>
              <a:t>ISD Team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31520"/>
            <a:ext cx="11823192" cy="5989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C8EF7"/>
                </a:solidFill>
              </a:rPr>
              <a:t>End-to-End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210312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Chrome Extension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103120" cy="162763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Sidebar UI (panel.html)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Cookie Interceptor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JSESSIONID auto-capture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Personal_Log stay-time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70432"/>
            <a:ext cx="228600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FastAPI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463040"/>
            <a:ext cx="2286000" cy="162763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POST /sync · /sync/delta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POST /chat · /chat/stream(SSE)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GET /chat/{id} · /courses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POST /log · /feedback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170432"/>
            <a:ext cx="210312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e-Class Scraper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463040"/>
            <a:ext cx="2103120" cy="162763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main_form.acl (auth)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efile_download2 (PDF/PPTX)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report_list.acl POST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project_list.acl POST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test_list_form 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170432"/>
            <a:ext cx="210312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Ingest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463040"/>
            <a:ext cx="2103120" cy="162763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chunker.py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PDF · PPTX → text extract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Page-level chunking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MD5 checksum dedup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FTS5 index insert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37560"/>
            <a:ext cx="320040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SQLite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30168"/>
            <a:ext cx="3200400" cy="203911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User · Course · Enrollment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Material · Doc_Chunk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Doc_Chunk_fts (FTS5)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Learning_Activity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Chat_Session · Chat_Log + fts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Personal_Log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337560"/>
            <a:ext cx="576072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RAG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3630168"/>
            <a:ext cx="5760720" cy="203911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Smart Router — ACTIVITY vs MATERIAL keywords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Keyword Extractor — llama-3.1-8b (token saving)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FTS5 Doc_Chunk MATCH LIMIT 8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Hybrid History — recent 4 + FTS relevant 3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Prompt Builder + D-day tag (Python)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Groq llama-3.3-70b → 8b fallback on 429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SSE StreamingResponse — real-time 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3337560"/>
            <a:ext cx="2103120" cy="292608"/>
          </a:xfrm>
          <a:prstGeom prst="rect">
            <a:avLst/>
          </a:prstGeom>
          <a:solidFill>
            <a:srgbClr val="1E2235"/>
          </a:solidFill>
          <a:ln w="1270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C8EF7"/>
                </a:solidFill>
              </a:rPr>
              <a:t>Notification 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3630168"/>
            <a:ext cx="2103120" cy="2039112"/>
          </a:xfrm>
          <a:prstGeom prst="rect">
            <a:avLst/>
          </a:prstGeom>
          <a:solidFill>
            <a:srgbClr val="101828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>
                <a:solidFill>
                  <a:srgbClr val="7A7D90"/>
                </a:solidFill>
              </a:rPr>
              <a:t>· POST /sync/delta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e-Class alert triggered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Changed courses only</a:t>
            </a:r>
          </a:p>
          <a:p>
            <a:pPr algn="l"/>
            <a:r>
              <a:rPr sz="800">
                <a:solidFill>
                  <a:srgbClr val="7A7D90"/>
                </a:solidFill>
              </a:rPr>
              <a:t>· Incremental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46304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2E4F0"/>
                </a:solidFill>
              </a:rPr>
              <a:t>LMS AI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82880"/>
            <a:ext cx="2011680" cy="292608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7D90"/>
                </a:solidFill>
              </a:rPr>
              <a:t>LMS Sync · RAG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0116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A7D90"/>
                </a:solidFill>
              </a:rPr>
              <a:t>ISD Team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31520"/>
            <a:ext cx="11823192" cy="5989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777240"/>
            <a:ext cx="36576" cy="585216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8EF7"/>
                </a:solidFill>
              </a:rPr>
              <a:t>① LMS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Scraper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e-Class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00100" y="1691640"/>
            <a:ext cx="100584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20" y="1536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동기화 클릭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05940" y="1965960"/>
            <a:ext cx="1005839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51660" y="1810512"/>
            <a:ext cx="10972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POST /sync {cookie}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1779" y="2240280"/>
            <a:ext cx="960121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57499" y="208483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run_sync()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71900" y="2514600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17620" y="235915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GET main_form.acl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32020" y="2788920"/>
            <a:ext cx="91440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77740" y="263347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upsert user/course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71900" y="3063240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17620" y="290779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POST report_list.acl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771900" y="3291840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817620" y="313639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POST project_list.acl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71900" y="3520440"/>
            <a:ext cx="18745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17620" y="3364992"/>
            <a:ext cx="1965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clear + upsert activity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71900" y="3749039"/>
            <a:ext cx="18745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817620" y="3593591"/>
            <a:ext cx="1965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chunk PDF → FTS5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811779" y="4005072"/>
            <a:ext cx="2834641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57499" y="3849624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touch_sync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00100" y="4251960"/>
            <a:ext cx="100584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5820" y="409651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방금 동기화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8229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8EF7"/>
                </a:solidFill>
              </a:rPr>
              <a:t>② RAG Chat  (SSE Streaming)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User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6948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Ext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524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7532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SQLite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95560" y="1170432"/>
            <a:ext cx="777240" cy="27432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8EF7"/>
                </a:solidFill>
              </a:rPr>
              <a:t>Groq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61320" y="1444752"/>
            <a:ext cx="45720" cy="45720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697980" y="1691640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743700" y="153619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질문 입력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658100" y="1965960"/>
            <a:ext cx="100584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03820" y="181051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POST /chat/stream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663940" y="2240280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709660" y="2084832"/>
            <a:ext cx="105155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Smart Router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663940" y="2487168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709660" y="2331720"/>
            <a:ext cx="105155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get_hybrid_history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663940" y="2734056"/>
            <a:ext cx="192024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709660" y="2578608"/>
            <a:ext cx="2011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extract_keywords (8b)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663940" y="2980944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709660" y="2825496"/>
            <a:ext cx="105155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FTS5 MATCH LIMIT 8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663940" y="3227832"/>
            <a:ext cx="192024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709660" y="3072384"/>
            <a:ext cx="20116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llama-3.3-70b stream=True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7658100" y="3611880"/>
            <a:ext cx="292608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703820" y="345643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← SSE delta chunks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6697980" y="3913632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743700" y="3758184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← 실시간 렌더링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663940" y="4187952"/>
            <a:ext cx="96012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709660" y="4032504"/>
            <a:ext cx="105155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INSERT Chat_Log + FTS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7658100" y="4434840"/>
            <a:ext cx="100584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703820" y="42793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done {session_id, sources}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697980" y="4754880"/>
            <a:ext cx="1965960" cy="0"/>
          </a:xfrm>
          <a:prstGeom prst="line">
            <a:avLst/>
          </a:prstGeom>
          <a:ln w="10160">
            <a:solidFill>
              <a:srgbClr val="6C8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743700" y="4599432"/>
            <a:ext cx="2057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>
                <a:solidFill>
                  <a:srgbClr val="7A7D90"/>
                </a:solidFill>
              </a:rPr>
              <a:t>POST /feedback ±1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46304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2E4F0"/>
                </a:solidFill>
              </a:rPr>
              <a:t>LMS AI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82880"/>
            <a:ext cx="2011680" cy="292608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6C8EF7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7A7D90"/>
                </a:solidFill>
              </a:rPr>
              <a:t>Chrome Extension  ·  FastAPI  ·  Groq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201168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A7D90"/>
                </a:solidFill>
              </a:rPr>
              <a:t>ISD Team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31520"/>
            <a:ext cx="11823192" cy="5989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C8EF7"/>
                </a:solidFill>
              </a:rPr>
              <a:t>Demo Scenario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1828800" cy="32004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C8EF7"/>
                </a:solidFill>
              </a:rPr>
              <a:t>①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252728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2E4F0"/>
                </a:solidFill>
              </a:rPr>
              <a:t>학번 입력 → 동기화 → e-Class 전 과목 자동 스크래핑 (PDF 청크화 + 과제 수집)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84248"/>
            <a:ext cx="1828800" cy="32004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C8EF7"/>
                </a:solidFill>
              </a:rPr>
              <a:t>② Course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002536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2E4F0"/>
                </a:solidFill>
              </a:rPr>
              <a:t>강의실 클릭 → URL KJKEY 자동 감지 → 헤더 과목명 자동 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34056"/>
            <a:ext cx="1828800" cy="32004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C8EF7"/>
                </a:solidFill>
              </a:rPr>
              <a:t>③ Assignment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752344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2E4F0"/>
                </a:solidFill>
              </a:rPr>
              <a:t>"이번 주 과제 마감일이 언제야?" → D-day 태그 포함 스트리밍 답변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83864"/>
            <a:ext cx="1828800" cy="32004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C8EF7"/>
                </a:solidFill>
              </a:rPr>
              <a:t>④ Material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50215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2E4F0"/>
                </a:solidFill>
              </a:rPr>
              <a:t>"Merge Sort 시간복잡도 설명해줘" → FTS5 검색 → 출처 페이지 태그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33672"/>
            <a:ext cx="1828800" cy="32004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C8EF7"/>
                </a:solidFill>
              </a:rPr>
              <a:t>⑤ Session Reuse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251959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2E4F0"/>
                </a:solidFill>
              </a:rPr>
              <a:t>"그럼 Quick Sort랑 비교하면?" → 세션 재사용, 이전 맥락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83479"/>
            <a:ext cx="1828800" cy="320040"/>
          </a:xfrm>
          <a:prstGeom prst="rect">
            <a:avLst/>
          </a:prstGeom>
          <a:solidFill>
            <a:srgbClr val="1E2235"/>
          </a:solidFill>
          <a:ln w="10160">
            <a:solidFill>
              <a:srgbClr val="6C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C8EF7"/>
                </a:solidFill>
              </a:rPr>
              <a:t>⑥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001767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2E4F0"/>
                </a:solidFill>
              </a:rPr>
              <a:t>👍 도움됐어요 클릭 → DB Chat_Log.feedback_score = 1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89320"/>
            <a:ext cx="1810512" cy="274320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6C8EF7"/>
                </a:solidFill>
              </a:rPr>
              <a:t>Smart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3432" y="5989320"/>
            <a:ext cx="1810512" cy="274320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6C8EF7"/>
                </a:solidFill>
              </a:rPr>
              <a:t>D-day Python calc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4" y="5989320"/>
            <a:ext cx="1810512" cy="274320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4ADE80"/>
                </a:solidFill>
              </a:rPr>
              <a:t>SSE Streaming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5989320"/>
            <a:ext cx="1810512" cy="274320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6C8EF7"/>
                </a:solidFill>
              </a:rPr>
              <a:t>Hybrid FTS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5989320"/>
            <a:ext cx="1810512" cy="274320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FBBF24"/>
                </a:solidFill>
              </a:rPr>
              <a:t>Source Page Tags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5989320"/>
            <a:ext cx="1810512" cy="274320"/>
          </a:xfrm>
          <a:prstGeom prst="rect">
            <a:avLst/>
          </a:prstGeom>
          <a:solidFill>
            <a:srgbClr val="1E2235"/>
          </a:solidFill>
          <a:ln w="6350"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>
                <a:solidFill>
                  <a:srgbClr val="7A7D90"/>
                </a:solidFill>
              </a:rPr>
              <a:t>Personal_Log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